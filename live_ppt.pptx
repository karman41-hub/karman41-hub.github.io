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3400"/>
            <a:ext cx="22860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43584" y="533400"/>
            <a:ext cx="21062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68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RESEARCH INTERESTS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19200" y="1295400"/>
            <a:ext cx="16325088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spc="243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FIVE PILLARS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19200" y="1891605"/>
            <a:ext cx="16325088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spc="-144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I think about most days.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219200" y="5138886"/>
            <a:ext cx="2925961" cy="9525"/>
          </a:xfrm>
          <a:prstGeom prst="rect">
            <a:avLst/>
          </a:prstGeom>
          <a:solidFill>
            <a:srgbClr val="FF6A1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453211"/>
            <a:ext cx="2925961" cy="533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9200" y="6196161"/>
            <a:ext cx="3013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89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219200" y="6567636"/>
            <a:ext cx="3013740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spc="-29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 casting</a:t>
            </a:r>
            <a:endParaRPr lang="en-US" sz="2850" dirty="0"/>
          </a:p>
        </p:txBody>
      </p:sp>
      <p:sp>
        <p:nvSpPr>
          <p:cNvPr id="10" name="Text 6"/>
          <p:cNvSpPr/>
          <p:nvPr/>
        </p:nvSpPr>
        <p:spPr>
          <a:xfrm>
            <a:off x="1219200" y="7137202"/>
            <a:ext cx="3013740" cy="1500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Mould fluid flow, solidification dynamics, oscillation-mark formation, mould-flux characterisation, defect suppression in slabs, billets, blooms.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49961" y="5138886"/>
            <a:ext cx="2926110" cy="9525"/>
          </a:xfrm>
          <a:prstGeom prst="rect">
            <a:avLst/>
          </a:prstGeom>
          <a:solidFill>
            <a:srgbClr val="8BA6B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61" y="5453211"/>
            <a:ext cx="2926110" cy="533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49961" y="6196161"/>
            <a:ext cx="30138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89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449961" y="6567636"/>
            <a:ext cx="3013893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spc="-29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Pyro­metallurgy</a:t>
            </a:r>
            <a:endParaRPr lang="en-US" sz="2850" dirty="0"/>
          </a:p>
        </p:txBody>
      </p:sp>
      <p:sp>
        <p:nvSpPr>
          <p:cNvPr id="15" name="Text 10"/>
          <p:cNvSpPr/>
          <p:nvPr/>
        </p:nvSpPr>
        <p:spPr>
          <a:xfrm>
            <a:off x="4449961" y="7137202"/>
            <a:ext cx="3013893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High-temperature slag–metal–gas interactions, thermodynamic modelling, recovery of by-products.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680871" y="5138886"/>
            <a:ext cx="2926110" cy="9525"/>
          </a:xfrm>
          <a:prstGeom prst="rect">
            <a:avLst/>
          </a:prstGeom>
          <a:solidFill>
            <a:srgbClr val="8BA6B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871" y="5453211"/>
            <a:ext cx="2926110" cy="533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871" y="6196161"/>
            <a:ext cx="30138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89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7680871" y="6567636"/>
            <a:ext cx="3013893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spc="-29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Physical modelling</a:t>
            </a:r>
            <a:endParaRPr lang="en-US" sz="2850" dirty="0"/>
          </a:p>
        </p:txBody>
      </p:sp>
      <p:sp>
        <p:nvSpPr>
          <p:cNvPr id="20" name="Text 14"/>
          <p:cNvSpPr/>
          <p:nvPr/>
        </p:nvSpPr>
        <p:spPr>
          <a:xfrm>
            <a:off x="7680871" y="7137202"/>
            <a:ext cx="3013893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Water and liquid-metal modelling, metrology, and industrial validation.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10911780" y="5138886"/>
            <a:ext cx="2926110" cy="9525"/>
          </a:xfrm>
          <a:prstGeom prst="rect">
            <a:avLst/>
          </a:prstGeom>
          <a:solidFill>
            <a:srgbClr val="8BA6B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780" y="5453211"/>
            <a:ext cx="2926110" cy="533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11780" y="6196161"/>
            <a:ext cx="30138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89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0911780" y="6567636"/>
            <a:ext cx="3013893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spc="-29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Circular metallurgy</a:t>
            </a:r>
            <a:endParaRPr lang="en-US" sz="2850" dirty="0"/>
          </a:p>
        </p:txBody>
      </p:sp>
      <p:sp>
        <p:nvSpPr>
          <p:cNvPr id="25" name="Text 18"/>
          <p:cNvSpPr/>
          <p:nvPr/>
        </p:nvSpPr>
        <p:spPr>
          <a:xfrm>
            <a:off x="10911780" y="7535317"/>
            <a:ext cx="3013893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Secondary raw materials, low-carbon routes, valorisation of residues, biocarbon utilisation.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14142690" y="5138886"/>
            <a:ext cx="2926110" cy="9525"/>
          </a:xfrm>
          <a:prstGeom prst="rect">
            <a:avLst/>
          </a:prstGeom>
          <a:solidFill>
            <a:srgbClr val="8BA6B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2690" y="5453211"/>
            <a:ext cx="2926110" cy="5334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142690" y="6196161"/>
            <a:ext cx="30138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89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4142690" y="6567636"/>
            <a:ext cx="3013893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spc="-29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Automation &amp; SMART process</a:t>
            </a:r>
            <a:endParaRPr lang="en-US" sz="2850" dirty="0"/>
          </a:p>
        </p:txBody>
      </p:sp>
      <p:sp>
        <p:nvSpPr>
          <p:cNvPr id="30" name="Text 22"/>
          <p:cNvSpPr/>
          <p:nvPr/>
        </p:nvSpPr>
        <p:spPr>
          <a:xfrm>
            <a:off x="14142690" y="7535317"/>
            <a:ext cx="3013893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Automation and AI for process control, data-driven quality prediction.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4892486" y="9525000"/>
            <a:ext cx="25573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68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KARMAN41-HUB.GITHUB.IO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3400"/>
            <a:ext cx="22860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07494" y="533400"/>
            <a:ext cx="15423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68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SELECTED WORK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19200" y="1295400"/>
            <a:ext cx="16325088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spc="243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SELECTED WORK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19200" y="1891605"/>
            <a:ext cx="16325088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108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Four projects, in flight.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1219200" y="3124498"/>
            <a:ext cx="7772400" cy="3298924"/>
          </a:xfrm>
          <a:prstGeom prst="roundRect">
            <a:avLst>
              <a:gd name="adj" fmla="val 2310"/>
            </a:avLst>
          </a:prstGeom>
          <a:solidFill>
            <a:srgbClr val="DDE8F2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09725" y="3515023"/>
            <a:ext cx="13564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45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 — Ongoing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609725" y="3881735"/>
            <a:ext cx="7201091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27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CC diagnostics across industrial &amp; experimental scales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609725" y="4822627"/>
            <a:ext cx="7201091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critical review of measurement techniques in continuous casting — industrial sensors, pilot casters, water and liquid-metal models — with emphasis on EMS as both flow control and measurement disturbance.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1609725" y="5751909"/>
            <a:ext cx="715714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33550" y="5799534"/>
            <a:ext cx="54426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2401639" y="5751909"/>
            <a:ext cx="403771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25464" y="5799534"/>
            <a:ext cx="23232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CC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2881610" y="5751909"/>
            <a:ext cx="949821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05435" y="5799534"/>
            <a:ext cx="77837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EMS / MHD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9296400" y="3124498"/>
            <a:ext cx="7772400" cy="3298924"/>
          </a:xfrm>
          <a:prstGeom prst="roundRect">
            <a:avLst>
              <a:gd name="adj" fmla="val 2310"/>
            </a:avLst>
          </a:prstGeom>
          <a:solidFill>
            <a:srgbClr val="DDE8F2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86925" y="3515023"/>
            <a:ext cx="13564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45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 — Ongoing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9686925" y="3881735"/>
            <a:ext cx="7201091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27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Swerim CCS — full-scale physical caster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9686925" y="4428381"/>
            <a:ext cx="7201091" cy="120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Bi–Sn full-scale physical model of a continuous caster. Stopper rod, SEN, mould, oil-slag surrogate. Used to study multiphase flow under EMS and EMBr.</a:t>
            </a:r>
            <a:endParaRPr lang="en-US" sz="1275" dirty="0"/>
          </a:p>
        </p:txBody>
      </p:sp>
      <p:sp>
        <p:nvSpPr>
          <p:cNvPr id="20" name="Shape 17"/>
          <p:cNvSpPr/>
          <p:nvPr/>
        </p:nvSpPr>
        <p:spPr>
          <a:xfrm>
            <a:off x="9686925" y="5751909"/>
            <a:ext cx="1339900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10750" y="5799534"/>
            <a:ext cx="11684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physical model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11103025" y="5751909"/>
            <a:ext cx="637729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226850" y="5799534"/>
            <a:ext cx="46627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Bi–Sn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11816953" y="5751909"/>
            <a:ext cx="1027807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940778" y="5799534"/>
            <a:ext cx="85635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multiphase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1219200" y="6728222"/>
            <a:ext cx="7772400" cy="2904679"/>
          </a:xfrm>
          <a:prstGeom prst="roundRect">
            <a:avLst>
              <a:gd name="adj" fmla="val 2623"/>
            </a:avLst>
          </a:prstGeom>
          <a:solidFill>
            <a:srgbClr val="DDE8F2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09725" y="7118747"/>
            <a:ext cx="23622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45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CROSSCUT · 2025 — Ongoing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1609725" y="7485459"/>
            <a:ext cx="7201091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27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Bio-based agglomeration for iron &amp; steel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1609725" y="8032105"/>
            <a:ext cx="7201091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Bio-derived binders for pelletisation and briquetting of iron-bearing fines. Reduction kinetics, mechanical properties, fossil-coke displacement.</a:t>
            </a:r>
            <a:endParaRPr lang="en-US" sz="1275" dirty="0"/>
          </a:p>
        </p:txBody>
      </p:sp>
      <p:sp>
        <p:nvSpPr>
          <p:cNvPr id="30" name="Shape 27"/>
          <p:cNvSpPr/>
          <p:nvPr/>
        </p:nvSpPr>
        <p:spPr>
          <a:xfrm>
            <a:off x="1609725" y="8961388"/>
            <a:ext cx="871835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733550" y="9009013"/>
            <a:ext cx="7003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CROSSCUT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2557760" y="8961388"/>
            <a:ext cx="1027807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681585" y="9009013"/>
            <a:ext cx="85635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bio-binder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3661767" y="8961388"/>
            <a:ext cx="1027807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85592" y="9009013"/>
            <a:ext cx="85635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low-carbon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9296400" y="6728222"/>
            <a:ext cx="7772400" cy="2904679"/>
          </a:xfrm>
          <a:prstGeom prst="roundRect">
            <a:avLst>
              <a:gd name="adj" fmla="val 2623"/>
            </a:avLst>
          </a:prstGeom>
          <a:solidFill>
            <a:srgbClr val="DDE8F2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86925" y="7118747"/>
            <a:ext cx="245372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45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SmartSlag · 2026 — Ongoing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9686925" y="7485459"/>
            <a:ext cx="7201091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27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Sustainable ferrochrome &amp; circular processing</a:t>
            </a:r>
            <a:endParaRPr lang="en-US" sz="2700" dirty="0"/>
          </a:p>
        </p:txBody>
      </p:sp>
      <p:sp>
        <p:nvSpPr>
          <p:cNvPr id="39" name="Text 36"/>
          <p:cNvSpPr/>
          <p:nvPr/>
        </p:nvSpPr>
        <p:spPr>
          <a:xfrm>
            <a:off x="9686925" y="8032105"/>
            <a:ext cx="7201091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Process-route work on ferrochrome and secondary streams — slag valorisation and circular-economy integration.</a:t>
            </a:r>
            <a:endParaRPr lang="en-US" sz="1275" dirty="0"/>
          </a:p>
        </p:txBody>
      </p:sp>
      <p:sp>
        <p:nvSpPr>
          <p:cNvPr id="40" name="Shape 37"/>
          <p:cNvSpPr/>
          <p:nvPr/>
        </p:nvSpPr>
        <p:spPr>
          <a:xfrm>
            <a:off x="9686925" y="8961388"/>
            <a:ext cx="949821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10750" y="9009013"/>
            <a:ext cx="77837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SmartSlag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10712946" y="8961388"/>
            <a:ext cx="559743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836771" y="9009013"/>
            <a:ext cx="38829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FeCr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11348889" y="8961388"/>
            <a:ext cx="1573857" cy="280988"/>
          </a:xfrm>
          <a:prstGeom prst="roundRect">
            <a:avLst>
              <a:gd name="adj" fmla="val 50000"/>
            </a:avLst>
          </a:prstGeom>
          <a:solidFill>
            <a:srgbClr val="C8D8E8"/>
          </a:solidFill>
          <a:ln w="9525">
            <a:solidFill>
              <a:srgbClr val="A8BCC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472714" y="9009013"/>
            <a:ext cx="140240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29" kern="0" dirty="0">
                <a:solidFill>
                  <a:srgbClr val="1F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slag valorisation</a:t>
            </a:r>
            <a:endParaRPr lang="en-US" sz="975" dirty="0"/>
          </a:p>
        </p:txBody>
      </p:sp>
      <p:sp>
        <p:nvSpPr>
          <p:cNvPr id="46" name="Text 43"/>
          <p:cNvSpPr/>
          <p:nvPr/>
        </p:nvSpPr>
        <p:spPr>
          <a:xfrm>
            <a:off x="14892486" y="9525000"/>
            <a:ext cx="25573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68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KARMAN41-HUB.GITHUB.IO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2026-05-25T11:29:01Z</dcterms:created>
  <dcterms:modified xsi:type="dcterms:W3CDTF">2026-05-25T11:29:01Z</dcterms:modified>
</cp:coreProperties>
</file>